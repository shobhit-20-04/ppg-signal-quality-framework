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Assistant" pitchFamily="2" charset="-79"/>
      <p:regular r:id="rId8"/>
      <p:bold r:id="rId9"/>
    </p:embeddedFont>
    <p:embeddedFont>
      <p:font typeface="Assistant Bold" charset="-79"/>
      <p:regular r:id="rId10"/>
    </p:embeddedFont>
    <p:embeddedFont>
      <p:font typeface="Assistant SemiBold" pitchFamily="2" charset="-79"/>
      <p:bold r:id="rId11"/>
    </p:embeddedFont>
    <p:embeddedFont>
      <p:font typeface="Rubik SemiBold" panose="020B0604020202020204" charset="-79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825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503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Adaptive PPG</a:t>
            </a:r>
            <a:endParaRPr lang="en-US" sz="4000" dirty="0"/>
          </a:p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Quality Assessment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585" y="2025650"/>
            <a:ext cx="1158211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Detect what is wrong with a PPG (heartbeat light-sensor) signal.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3400227"/>
            <a:ext cx="873500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50" dirty="0">
                <a:solidFill>
                  <a:srgbClr val="0E7C86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01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609585" y="3771702"/>
            <a:ext cx="264788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972302"/>
            <a:ext cx="264788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Detect problem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585" y="4569123"/>
            <a:ext cx="26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Detect what is wrong with the signal.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4465" y="3400227"/>
            <a:ext cx="885208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50" dirty="0">
                <a:solidFill>
                  <a:srgbClr val="0E7C86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02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3384465" y="3771702"/>
            <a:ext cx="264788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384465" y="3972302"/>
            <a:ext cx="264788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Targeted fix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4465" y="4569123"/>
            <a:ext cx="26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Clean it with a fix suited to that problem.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59346" y="3400227"/>
            <a:ext cx="885208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50" dirty="0">
                <a:solidFill>
                  <a:srgbClr val="0E7C86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03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6159346" y="3771702"/>
            <a:ext cx="264788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6159346" y="3972302"/>
            <a:ext cx="264788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Measure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59346" y="4569123"/>
            <a:ext cx="26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Measure the cleanup against ground truth.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34226" y="3400227"/>
            <a:ext cx="885208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50" dirty="0">
                <a:solidFill>
                  <a:srgbClr val="0E7C86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04</a:t>
            </a:r>
            <a:endParaRPr lang="en-US" sz="2150" dirty="0"/>
          </a:p>
        </p:txBody>
      </p:sp>
      <p:sp>
        <p:nvSpPr>
          <p:cNvPr id="17" name="Shape 15"/>
          <p:cNvSpPr/>
          <p:nvPr/>
        </p:nvSpPr>
        <p:spPr>
          <a:xfrm>
            <a:off x="8934226" y="3771702"/>
            <a:ext cx="264788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8934226" y="3972302"/>
            <a:ext cx="2647884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Real-data test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34226" y="4569123"/>
            <a:ext cx="26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Test on real expert-labeled data.</a:t>
            </a:r>
            <a:endParaRPr lang="en-US" sz="1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D41774-6804-728E-B0B9-B70A7703FF63}"/>
              </a:ext>
            </a:extLst>
          </p:cNvPr>
          <p:cNvSpPr/>
          <p:nvPr/>
        </p:nvSpPr>
        <p:spPr>
          <a:xfrm>
            <a:off x="11066106" y="6388787"/>
            <a:ext cx="1045029" cy="429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218"/>
            <a:ext cx="10972526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Datasets, Preprocessing and Splitting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324570"/>
            <a:ext cx="6309262" cy="2482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4,535 segments from four sources, split by person.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Resample to 125 Hz; cut into 2,000-sample segments.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Drop broken segments; scale amplitude per source, training data only.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80/20 split by recording group; no person in both sets.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Practice data: 5 synthetic artifacts plus Clean = 6 classes.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375936" y="1324570"/>
            <a:ext cx="42061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Datasets (125 Hz, 16 s segments)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5936" y="1737320"/>
          <a:ext cx="4206175" cy="3930550"/>
        </p:xfrm>
        <a:graphic>
          <a:graphicData uri="http://schemas.openxmlformats.org/drawingml/2006/table">
            <a:tbl>
              <a:tblPr/>
              <a:tblGrid>
                <a:gridCol w="2944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B2632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Source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B2632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Segments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Original CSV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2,576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2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Cuff-Less BP (UCI)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600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PPG-DaLiA (UCI, sitting still only)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564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BUT PPG (PhysioNet, expert good quality only)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795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Total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4,535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3E6DC7-76DA-AB44-4865-D7A08E075DE8}"/>
              </a:ext>
            </a:extLst>
          </p:cNvPr>
          <p:cNvSpPr/>
          <p:nvPr/>
        </p:nvSpPr>
        <p:spPr>
          <a:xfrm>
            <a:off x="11066106" y="6388787"/>
            <a:ext cx="1045029" cy="429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38452"/>
            <a:ext cx="11175720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6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Nine-step pipeline built on seven features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319510"/>
            <a:ext cx="11175720" cy="20977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987" y="4130873"/>
            <a:ext cx="551166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A4756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Kurtosis:</a:t>
            </a: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how peaky the waveform is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172046" y="4130873"/>
            <a:ext cx="551166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A4756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Zero-crossing rate:</a:t>
            </a: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how often the signal crosses zero, a noise cue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07987" y="5026223"/>
            <a:ext cx="551166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A4756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Low-frequency energy ratio:</a:t>
            </a: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share of slow drift energy, flags baseline wander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172046" y="5026223"/>
            <a:ext cx="551166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3A4756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Lag-1 autocorrelation:</a:t>
            </a: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how closely each sample follows the previous, a smoothness cue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07987" y="6350992"/>
            <a:ext cx="116837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All 7 features: kurtosis, skewness, amplitude entropy, zero-crossing rate, lag-1 autocorrelation, low-frequency energy ratio, standard deviation.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A5F631-7690-D752-5C22-108CFB434943}"/>
              </a:ext>
            </a:extLst>
          </p:cNvPr>
          <p:cNvSpPr/>
          <p:nvPr/>
        </p:nvSpPr>
        <p:spPr>
          <a:xfrm>
            <a:off x="11066106" y="6388787"/>
            <a:ext cx="1045029" cy="429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184452"/>
            <a:ext cx="11175720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6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Model Choice and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7987" y="812780"/>
            <a:ext cx="551166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Why SVM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87" y="1409601"/>
            <a:ext cx="5511662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SVM (RBF): curved boundaries, strong with 7 features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Decision Tree kept for interpretability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Logistic regression too linear; KNN slow, opaque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Random forest redundant; deep CNN needs more data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07987" y="3975001"/>
            <a:ext cx="5511662" cy="6604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5-fold group CV; SVM settings [from notebook]; runtime [ms per 16 s signal, from notebook].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7987" y="4865271"/>
            <a:ext cx="551166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Cleaning results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7987" y="5462091"/>
            <a:ext cx="551166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Cleaning: motion correlation 0.948 to 0.955; baseline wander matches reference 0.9955 but over-smooths truth (0.72); muscle noise drops 0.904 to 0.843.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72046" y="812780"/>
            <a:ext cx="551166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Test accuracy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046" y="1409601"/>
          <a:ext cx="5511663" cy="2063699"/>
        </p:xfrm>
        <a:graphic>
          <a:graphicData uri="http://schemas.openxmlformats.org/drawingml/2006/table">
            <a:tbl>
              <a:tblPr/>
              <a:tblGrid>
                <a:gridCol w="3031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2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Model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2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Test accuracy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8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SVM (RBF)</a:t>
                      </a:r>
                      <a:endParaRPr lang="en-US" sz="19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50" b="1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93.4% (95% CI 92.6-94.2)</a:t>
                      </a:r>
                      <a:endParaRPr lang="en-US" sz="19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Decision Tree</a:t>
                      </a:r>
                      <a:endParaRPr lang="en-US" sz="19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50" dirty="0">
                          <a:solidFill>
                            <a:srgbClr val="3A4756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91.4%</a:t>
                      </a:r>
                      <a:endParaRPr lang="en-US" sz="19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172046" y="3703221"/>
            <a:ext cx="551166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Overfitting check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172046" y="4300041"/>
            <a:ext cx="551166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Train 95.9% vs test 93.4%: mild overfitting, 2.4-point gap.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172046" y="4806136"/>
            <a:ext cx="5511662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1B2632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Per-source accuracy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172046" y="5402957"/>
            <a:ext cx="5511662" cy="384175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Per source: CSV 98.3%, BUT 97.4%, Cuff-Less 86.8%, DaLiA 75.6%.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447234-7350-65EC-1BBA-268C991DD1BD}"/>
              </a:ext>
            </a:extLst>
          </p:cNvPr>
          <p:cNvSpPr/>
          <p:nvPr/>
        </p:nvSpPr>
        <p:spPr>
          <a:xfrm>
            <a:off x="11066106" y="6388787"/>
            <a:ext cx="1045029" cy="429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218"/>
            <a:ext cx="10972526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200" dirty="0">
                <a:solidFill>
                  <a:srgbClr val="1B2632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Real-World Validation, Limitations and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324570"/>
            <a:ext cx="6309262" cy="2482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Synthetic test accuracy is 93.4%; real-world transfer is weaker.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BUT PPG balanced accuracy is 57.5%; guessing is 50%.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83% of poor recordings were called Clean.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Features trained on real labels reach AUC 0.689.</a:t>
            </a:r>
            <a:endParaRPr lang="en-US" sz="1950" dirty="0"/>
          </a:p>
          <a:p>
            <a:pPr marL="396240" indent="-396240" algn="l">
              <a:lnSpc>
                <a:spcPct val="125000"/>
              </a:lnSpc>
              <a:buSzPct val="100000"/>
              <a:buChar char="•"/>
            </a:pPr>
            <a:r>
              <a:rPr lang="en-US" sz="195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Leave-one-source-out accuracy: 41%.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09585" y="3953470"/>
            <a:ext cx="6309262" cy="86995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3A4756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Works on synthetic artifacts; real-world use needs real labeled training data.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936" y="1324570"/>
            <a:ext cx="4206174" cy="37634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75936" y="5189637"/>
            <a:ext cx="42061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BUT PPG balanced accuracy 57.5%; 50% is guessing.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F15A1-7246-0AEE-8FDC-ED5F51733BF2}"/>
              </a:ext>
            </a:extLst>
          </p:cNvPr>
          <p:cNvSpPr/>
          <p:nvPr/>
        </p:nvSpPr>
        <p:spPr>
          <a:xfrm>
            <a:off x="11066106" y="6388787"/>
            <a:ext cx="1045029" cy="429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466</Words>
  <Application>Microsoft Office PowerPoint</Application>
  <PresentationFormat>Widescreen</PresentationFormat>
  <Paragraphs>77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Rubik SemiBold</vt:lpstr>
      <vt:lpstr>Assistant Bold</vt:lpstr>
      <vt:lpstr>Assistant</vt:lpstr>
      <vt:lpstr>Arial</vt:lpstr>
      <vt:lpstr>Assistant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Shobhit Agrawal</cp:lastModifiedBy>
  <cp:revision>2</cp:revision>
  <dcterms:created xsi:type="dcterms:W3CDTF">2026-10-10T14:04:41Z</dcterms:created>
  <dcterms:modified xsi:type="dcterms:W3CDTF">2026-10-10T14:13:31Z</dcterms:modified>
</cp:coreProperties>
</file>